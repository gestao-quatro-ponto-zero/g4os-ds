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9.8</c:v>
                </c:pt>
                <c:pt idx="1">
                  <c:v>11.2</c:v>
                </c:pt>
                <c:pt idx="2">
                  <c:v>12.4</c:v>
                </c:pt>
                <c:pt idx="3">
                  <c:v>13.6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2027 (meta)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12.9</c:v>
                </c:pt>
                <c:pt idx="1">
                  <c:v>14.8</c:v>
                </c:pt>
                <c:pt idx="2">
                  <c:v>16.4</c:v>
                </c:pt>
                <c:pt idx="3">
                  <c:v>18.0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t>Mix de receita 2027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 2027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Enterprise</c:v>
                </c:pt>
                <c:pt idx="1">
                  <c:v>Mid-market</c:v>
                </c:pt>
                <c:pt idx="2">
                  <c:v>PME</c:v>
                </c:pt>
                <c:pt idx="3">
                  <c:v>Online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0.42</c:v>
                </c:pt>
                <c:pt idx="1">
                  <c:v>0.31</c:v>
                </c:pt>
                <c:pt idx="2">
                  <c:v>0.19</c:v>
                </c:pt>
                <c:pt idx="3">
                  <c:v>0.08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com a meta: R$ 62 mi, +32 % sobre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B9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07040" y="228600"/>
            <a:ext cx="1152144" cy="38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1F35"/>
            </a:gs>
            <a:gs pos="100000">
              <a:srgbClr val="18456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Georgia"/>
              </a:rPr>
              <a:t>Plano comercial 2027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B9915B"/>
                </a:solidFill>
              </a:rPr>
              <a:t>Diretoria Comercial · reunião de planejamento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Onde vamos crescer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t>Contas enterprise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t>Squad dedicado com SDR próprio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t>Ciclo alvo: 45 dias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t>Expansão da base atual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t>Upsell do G4 Club para G4 Scale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t>Novos canais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Receita cresce 32 % com a mesma estrutura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463040"/>
          <a:ext cx="69494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863840" y="1463040"/>
          <a:ext cx="3840480" cy="4754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Como uma conta enterprise avança</a:t>
            </a:r>
          </a:p>
        </p:txBody>
      </p:sp>
      <p:sp>
        <p:nvSpPr>
          <p:cNvPr id="3" name="Pentagon 2"/>
          <p:cNvSpPr/>
          <p:nvPr/>
        </p:nvSpPr>
        <p:spPr>
          <a:xfrm>
            <a:off x="731520" y="1920240"/>
            <a:ext cx="2834640" cy="1005840"/>
          </a:xfrm>
          <a:prstGeom prst="homePlate">
            <a:avLst/>
          </a:prstGeom>
          <a:solidFill>
            <a:srgbClr val="00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 b="1"/>
              <a:t>Prospecção</a:t>
            </a:r>
          </a:p>
        </p:txBody>
      </p:sp>
      <p:sp>
        <p:nvSpPr>
          <p:cNvPr id="4" name="Chevron 3"/>
          <p:cNvSpPr/>
          <p:nvPr/>
        </p:nvSpPr>
        <p:spPr>
          <a:xfrm>
            <a:off x="3474720" y="1920240"/>
            <a:ext cx="2834640" cy="1005840"/>
          </a:xfrm>
          <a:prstGeom prst="chevron">
            <a:avLst/>
          </a:prstGeom>
          <a:solidFill>
            <a:srgbClr val="00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 b="1"/>
              <a:t>Diagnóstico</a:t>
            </a:r>
          </a:p>
        </p:txBody>
      </p:sp>
      <p:sp>
        <p:nvSpPr>
          <p:cNvPr id="5" name="Chevron 4"/>
          <p:cNvSpPr/>
          <p:nvPr/>
        </p:nvSpPr>
        <p:spPr>
          <a:xfrm>
            <a:off x="6217920" y="1920240"/>
            <a:ext cx="2834640" cy="1005840"/>
          </a:xfrm>
          <a:prstGeom prst="chevron">
            <a:avLst/>
          </a:prstGeom>
          <a:solidFill>
            <a:srgbClr val="00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 b="1"/>
              <a:t>Proposta</a:t>
            </a:r>
          </a:p>
        </p:txBody>
      </p:sp>
      <p:sp>
        <p:nvSpPr>
          <p:cNvPr id="6" name="Chevron 5"/>
          <p:cNvSpPr/>
          <p:nvPr/>
        </p:nvSpPr>
        <p:spPr>
          <a:xfrm>
            <a:off x="8961120" y="1920240"/>
            <a:ext cx="2834640" cy="1005840"/>
          </a:xfrm>
          <a:prstGeom prst="chevron">
            <a:avLst/>
          </a:prstGeom>
          <a:solidFill>
            <a:srgbClr val="B9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 b="1"/>
              <a:t>Fechamento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F35"/>
                </a:solidFill>
              </a:rPr>
              <a:t>12 dias</a:t>
            </a:r>
          </a:p>
          <a:p>
            <a:r>
              <a:rPr sz="1400">
                <a:solidFill>
                  <a:srgbClr val="63666E"/>
                </a:solidFill>
              </a:rPr>
              <a:t>SDR + executivo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320040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F35"/>
                </a:solidFill>
              </a:rPr>
              <a:t>10 dias</a:t>
            </a:r>
          </a:p>
          <a:p>
            <a:r>
              <a:rPr sz="1400">
                <a:solidFill>
                  <a:srgbClr val="63666E"/>
                </a:solidFill>
              </a:rPr>
              <a:t>caso de ROI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320040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F35"/>
                </a:solidFill>
              </a:rPr>
              <a:t>15 dias</a:t>
            </a:r>
          </a:p>
          <a:p>
            <a:r>
              <a:rPr sz="1400">
                <a:solidFill>
                  <a:srgbClr val="63666E"/>
                </a:solidFill>
              </a:rPr>
              <a:t>jurídico no kick-off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320040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F35"/>
                </a:solidFill>
              </a:rPr>
              <a:t>8 dias</a:t>
            </a:r>
          </a:p>
          <a:p>
            <a:r>
              <a:rPr sz="1400">
                <a:solidFill>
                  <a:srgbClr val="63666E"/>
                </a:solidFill>
              </a:rPr>
              <a:t>assinatura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4846320"/>
            <a:ext cx="10515600" cy="0"/>
          </a:xfrm>
          <a:prstGeom prst="line">
            <a:avLst/>
          </a:prstGeom>
          <a:ln w="31750">
            <a:solidFill>
              <a:srgbClr val="B991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5-Point Star 11"/>
          <p:cNvSpPr/>
          <p:nvPr/>
        </p:nvSpPr>
        <p:spPr>
          <a:xfrm>
            <a:off x="5394960" y="5120640"/>
            <a:ext cx="822960" cy="822960"/>
          </a:xfrm>
          <a:prstGeom prst="star5">
            <a:avLst/>
          </a:prstGeom>
          <a:solidFill>
            <a:srgbClr val="B9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0" y="5120640"/>
            <a:ext cx="4846320" cy="868680"/>
          </a:xfrm>
          <a:prstGeom prst="roundRect">
            <a:avLst/>
          </a:prstGeom>
          <a:solidFill>
            <a:srgbClr val="F5EEE3"/>
          </a:solidFill>
          <a:ln>
            <a:solidFill>
              <a:srgbClr val="B9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>
                <a:solidFill>
                  <a:srgbClr val="001F35"/>
                </a:solidFill>
              </a:rPr>
              <a:t>Total: 45 dias (hoje: 58)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Quem vai liderar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rcRect l="17000" r="17000"/>
          <a:stretch>
            <a:fillRect/>
          </a:stretch>
        </p:blipFill>
        <p:spPr>
          <a:xfrm>
            <a:off x="1097280" y="1645920"/>
            <a:ext cx="2377440" cy="2377440"/>
          </a:xfrm>
          <a:prstGeom prst="ellipse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420624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/>
              <a:t>Mariana Couto</a:t>
            </a:r>
          </a:p>
          <a:p>
            <a:pPr algn="ctr"/>
            <a:r>
              <a:rPr sz="1400">
                <a:solidFill>
                  <a:srgbClr val="63666E"/>
                </a:solidFill>
              </a:rPr>
              <a:t>Head de Enterprise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rcRect l="17000" r="17000"/>
          <a:stretch>
            <a:fillRect/>
          </a:stretch>
        </p:blipFill>
        <p:spPr>
          <a:xfrm>
            <a:off x="4754880" y="1645920"/>
            <a:ext cx="2377440" cy="2377440"/>
          </a:xfrm>
          <a:prstGeom prst="ellipse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480560" y="420624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/>
              <a:t>Rafael Lima</a:t>
            </a:r>
          </a:p>
          <a:p>
            <a:pPr algn="ctr"/>
            <a:r>
              <a:rPr sz="1400">
                <a:solidFill>
                  <a:srgbClr val="63666E"/>
                </a:solidFill>
              </a:rPr>
              <a:t>Diretor Comercial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rcRect l="17000" r="17000"/>
          <a:stretch>
            <a:fillRect/>
          </a:stretch>
        </p:blipFill>
        <p:spPr>
          <a:xfrm>
            <a:off x="8412480" y="1645920"/>
            <a:ext cx="2377440" cy="2377440"/>
          </a:xfrm>
          <a:prstGeom prst="ellipse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38160" y="420624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/>
              <a:t>Juliana Prado</a:t>
            </a:r>
          </a:p>
          <a:p>
            <a:pPr algn="ctr"/>
            <a:r>
              <a:rPr sz="1400">
                <a:solidFill>
                  <a:srgbClr val="63666E"/>
                </a:solidFill>
              </a:rPr>
              <a:t>Customer Success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Metas por time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645920"/>
          <a:ext cx="105156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621792">
                <a:tc>
                  <a:txBody>
                    <a:bodyPr/>
                    <a:lstStyle/>
                    <a:p>
                      <a:r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Meta 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Crescimento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t>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R$ 18,4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R$ 26,0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+41 %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t>Mid-market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R$ 14,9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R$ 19,2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+29 %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t>PME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R$ 9,6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R$ 11,8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+23 %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t>Online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R$ 4,1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R$ 5,0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+22 %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Plano comercial 2027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